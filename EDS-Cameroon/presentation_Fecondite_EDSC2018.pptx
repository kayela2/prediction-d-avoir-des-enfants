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BFCFE0"/>
                </a:solidFill>
                <a:latin typeface="Calibri"/>
              </a:rPr>
              <a:t>RÉPUBLIQUE DU CAMEROUN  ·  Master 1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BFCFE0"/>
                </a:solidFill>
                <a:latin typeface="Calibri"/>
              </a:rPr>
              <a:t>Soutenance de projet — Année académique 2025–2026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Déterminants du désir d'avoir un autre enfant au Cameroun</a:t>
            </a:r>
          </a:p>
          <a:p>
            <a:pPr algn="ctr">
              <a:spcAft>
                <a:spcPts val="600"/>
              </a:spcAft>
            </a:pPr>
            <a:r>
              <a:rPr sz="1900" b="0">
                <a:solidFill>
                  <a:srgbClr val="E9C46A"/>
                </a:solidFill>
                <a:latin typeface="Calibri"/>
              </a:rPr>
              <a:t>Une approche combinant régression logistique et</a:t>
            </a:r>
          </a:p>
          <a:p>
            <a:pPr algn="ctr">
              <a:spcAft>
                <a:spcPts val="600"/>
              </a:spcAft>
            </a:pPr>
            <a:r>
              <a:rPr sz="1900" b="0">
                <a:solidFill>
                  <a:srgbClr val="E9C46A"/>
                </a:solidFill>
                <a:latin typeface="Calibri"/>
              </a:rPr>
              <a:t>Machine Learning interprétable — données EDSC-V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Échantillon : 13 527 femmes (15–49 ans)  ·  19 variables  ·  6 modèles ML</a:t>
            </a:r>
          </a:p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Présenté par : KENGNE SOH GUEMO PRINCE LANDRY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BFCFE0"/>
                </a:solidFill>
                <a:latin typeface="Calibri"/>
              </a:rPr>
              <a:t>Application HEARTH — hearth-edsc-prediction-d-avoir-des.onrender.com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•  1.  Contexte et problématique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•  2.  Question de recherche, hypothèses et objectifs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•  3.  Données et méthodologie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•  4.  Résultats — statistiques descriptives et tests bivariés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•  5.  Résultats — régression logistique et test des hypothèses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•  6.  Résultats — Machine Learning et modèle retenu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•  7.  Interprétabilité (SHAP) et application HEARTH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•  8.  Discussion, limites et recommandations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•  9.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1. Contexte et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Cameroun : indice synthétique de fécondité (ISF) = 5,4 enfants/femme (EDSC-V 2018)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Pays à forte fécondité → enjeux de santé reproductive et de transition démographique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Écart persistant : fécondité désirée ≈ 4,3 vs nombre idéal déclaré ≈ 6,0 enfants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Besoins non satisfaits en planification familiale ≈ 23 %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•  Limite des études existantes : régressions simples, sans traitement du déséquilibre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•  ni comparaison multi-algorithmes ni interprétabilité (SHAP)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•  → Aucune analyse dédiée au Cameroun sur v602 combinant statistique classique et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2. Question de recherche, hypothèses et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1143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Question : Quels facteurs socioéconomiques et démographiques influencent le désir d'avoir un autre enfant chez les femmes camerounaises (15–49 ans)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5486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Hypothèses (effet attendu)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H1 — Âge : négatif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H2 — Instruction : négatif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H3 — Nb enfants vivants : négatif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H4 — Contraception : négatif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H5 — Résidence rurale : positif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560320"/>
            <a:ext cx="5486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Objectifs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Décrire le désir d'enfant selon les profils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Tester les associations (Chi², Mann-Whitney)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Modéliser par régression logistique (OR, IC 95 %)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Comparer 6 algorithmes ML avec SMOTE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3A5F"/>
                </a:solidFill>
                <a:latin typeface="Calibri"/>
              </a:rPr>
              <a:t>•  Interpréter (SHAP) et déployer le modèle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3. Données et méthodologie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69494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Source : EDSC-V Cameroun 2018 — fichier individuel femme CMIR71FL (DHS/USAID)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Échantillon analytique : 13 527 femmes (15–49 ans) après nettoyage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•  Cible (v602) binarisée : Désire 94,5 % (12 782) vs Ne désire pas 5,5 % (745)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19 variables (encodage DHS corrigé : contraception, matrimonial, religion en indicatrices)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Partie A : descriptif, Chi²/V de Cramér, Mann-Whitney, régression logistique + diagnostics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Partie B : SMOTE (train), 6 modèles, validation 5-fold, learning curves, calibration, SHAP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•  Fort déséquilibre 94,5 % / 5,5 % → enjeu méthodologique central</a:t>
            </a:r>
          </a:p>
        </p:txBody>
      </p:sp>
      <p:pic>
        <p:nvPicPr>
          <p:cNvPr id="7" name="Picture 6" descr="fig1_variable_c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255400"/>
            <a:ext cx="4480560" cy="3170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4. Statistiques descriptives — l'âge, facteur clé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65836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•  Désir quasi universel : 94,5 % — très au-dessus des 64,95 % d'Afrique subsaharienne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Le désir décroît fortement avec l'âge 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A5F"/>
                </a:solidFill>
                <a:latin typeface="Calibri"/>
              </a:rPr>
              <a:t>•  98,4 % à 15–19 ans → 67,4 % à 45–49 ans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Femmes ne désirant pas : plus âgées (38,4 vs 27,2 ans) et plus d'enfants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54,3 % urbaines · 47,3 % niveau secondaire · 60,6 % en activité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20,2 % utilisent une contraception (17,0 % moderne)</a:t>
            </a:r>
          </a:p>
        </p:txBody>
      </p:sp>
      <p:pic>
        <p:nvPicPr>
          <p:cNvPr id="7" name="Picture 6" descr="fig2_desir_par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055" y="2671278"/>
            <a:ext cx="4754880" cy="23384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4. Tests d'association bivariée (Chi²)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6766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•  8 variables / 10 significativement associées au désir d'enfant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•  Association la plus forte : tranche d'âge (V de Cramér = 0,345)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Statut matrimonial : association modérée (V = 0,145)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Instruction, emploi, contraception, richesse, résidence : significatifs mais faibles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Non significatifs : région septentrionale (p = 0,545) et religion musulmane (p = 0,590)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•  Mann-Whitney : âge moyen 27,2 (désire) vs 38,4 (ne désire pas), p &lt; 0,001</a:t>
            </a:r>
          </a:p>
        </p:txBody>
      </p:sp>
      <p:pic>
        <p:nvPicPr>
          <p:cNvPr id="7" name="Picture 6" descr="fig6_heatmap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935" y="1818337"/>
            <a:ext cx="4572000" cy="4044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5. Régression logistique — Odds Ratios ajustés (19 variables)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pic>
        <p:nvPicPr>
          <p:cNvPr id="6" name="Picture 5" descr="fig9_forest_plot_corr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223" y="1280160"/>
            <a:ext cx="5621249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Nagelkerke = 23,4 %  ·  AUC = 0,809  ·  Brier = 0,0445  —  Rouge = significatif (p &lt; 0,05)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5. Test des hypothèses — un seul facteur validé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657600"/>
                <a:gridCol w="1463040"/>
                <a:gridCol w="1188720"/>
                <a:gridCol w="1463040"/>
              </a:tblGrid>
              <a:tr h="54864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Hyp.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OR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Statut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H1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Âge (négatif)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0,859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&lt; 0,001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8A3C"/>
                          </a:solidFill>
                        </a:rPr>
                        <a:t>VALIDÉE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Instruction (négatif)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1,154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</a:rPr>
                        <a:t>Infirmée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H3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Nb enfants vivants (négatif)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1,201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&lt; 0,001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</a:rPr>
                        <a:t>Infirmée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H4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Contraception (négatif)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1,48 / 7,13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&lt; 0,01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</a:rPr>
                        <a:t>Infirmée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/>
                        <a:t>H5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Résidence rurale (positif)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0,703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0,002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</a:rPr>
                        <a:t>Infirmée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Dans un contexte de désir quasi universel (94,5 %), les variables séparent surtout des sous-profils de femmes désirantes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E67E22"/>
                </a:solidFill>
                <a:latin typeface="Calibri"/>
              </a:rPr>
              <a:t>→ Âge = prédicteur dominant ; rural et contraception jouent en sens opposé aux hypothèses classiques de transition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6. Machine Learning — comparaison des 6 modèles (SMOTE)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10</a:t>
            </a:r>
          </a:p>
        </p:txBody>
      </p:sp>
      <p:pic>
        <p:nvPicPr>
          <p:cNvPr id="6" name="Picture 5" descr="fig12_comparaison_modeles_corri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280160"/>
            <a:ext cx="9601200" cy="3608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SMOTE appliqué sur le train uniquement (10 821 → 20 450)  ·  AUC-ROC = métrique principale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6. Surapprentissage et généralisation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6400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•  Écart AUC train/test très contrasté entre modèles 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C0392B"/>
                </a:solidFill>
                <a:latin typeface="Calibri"/>
              </a:rPr>
              <a:t>•  Random Forest (0,224), XGBoost (0,201), KNN (0,358) → surapprentissage sévère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E8A3C"/>
                </a:solidFill>
                <a:latin typeface="Calibri"/>
              </a:rPr>
              <a:t>•  Régression logistique → écart ≈ 0 : généralisation parfaite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E67E22"/>
                </a:solidFill>
                <a:latin typeface="Calibri"/>
              </a:rPr>
              <a:t>•  SVM (RBF) → écart 0,181, position intermédiaire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Courbes d'apprentissage : tous convergent en validation croisée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•  Sur le test déséquilibré, RL et SVM gardent le meilleur AUC</a:t>
            </a:r>
          </a:p>
        </p:txBody>
      </p:sp>
      <p:pic>
        <p:nvPicPr>
          <p:cNvPr id="7" name="Picture 6" descr="fig_learning_curves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295" y="2750316"/>
            <a:ext cx="5120640" cy="21803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6. Modèle retenu — SVM calibré (noyau RBF)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65836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•  Critères : pouvoir discriminant + calibration + spécificité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•  AUC CV-5 = 0,969  ·  AUC test = 0,795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Brier = 0,074 (bien calibré)  ·  F1 = 0,955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Sensibilité 94,3 %  ·  Spécificité 45,0 % (meilleure parmi modèles à forte sensibilité)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A5F"/>
                </a:solidFill>
                <a:latin typeface="Calibri"/>
              </a:rPr>
              <a:t>•  Matrice : VN=67 · FP=82 · FN=145 · VP=2 412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•  Régression logistique conservée comme référence interprétable (AUC test = 0,820)</a:t>
            </a:r>
          </a:p>
        </p:txBody>
      </p:sp>
      <p:pic>
        <p:nvPicPr>
          <p:cNvPr id="7" name="Picture 6" descr="figD_matrices_confusion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75" y="2242969"/>
            <a:ext cx="4937760" cy="31950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7. Interprétabilité — analyse 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66751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Décomposition de la contribution de chaque variable à la prédiction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•  Âge : importance écrasante (SHAP moyen = 1,16)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Suivi de : statut marié (0,31), nb enfants vivants (0,30), résidence (0,27)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3A5F"/>
                </a:solidFill>
                <a:latin typeface="Calibri"/>
              </a:rPr>
              <a:t>•  Permutation sur le SVM : permuter l'âge → chute d'AUC de 0,327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•  Convergence des deux approches → robustesse de la hiérarchie des facteurs</a:t>
            </a:r>
          </a:p>
        </p:txBody>
      </p:sp>
      <p:pic>
        <p:nvPicPr>
          <p:cNvPr id="7" name="Picture 6" descr="figF1_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615" y="1920097"/>
            <a:ext cx="4846320" cy="38407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7. Application HEARTH — déploiement du modèle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F3A5F"/>
                </a:solidFill>
                <a:latin typeface="Calibri"/>
              </a:rPr>
              <a:t>•  Application web responsive estimant la probabilité qu'une femme (15–49 ans) désire un enfant supplémentaire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F3A5F"/>
                </a:solidFill>
                <a:latin typeface="Calibri"/>
              </a:rPr>
              <a:t>•  Fondée sur le modèle SVM calibré (noyau RBF) — 19 variables, EDSC-V 2018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F3A5F"/>
                </a:solidFill>
                <a:latin typeface="Calibri"/>
              </a:rPr>
              <a:t>•  Profil renseigné en plusieurs étapes → probabilité personnalisée + facteurs influents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•  Stack : React + TypeScript + TailwindCSS (frontend) · FastAPI + scikit-learn (backend) · Render</a:t>
            </a:r>
          </a:p>
          <a:p>
            <a:pPr algn="l">
              <a:spcAft>
                <a:spcPts val="600"/>
              </a:spcAft>
            </a:pP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🔗  Application : https://hearth-edsc-prediction-d-avoir-des.onrender.com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🔗  Code : github.com/Kayela2/Prediction-d-avoir-des-enfants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8. Discussion, limites et 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74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5778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Enseignements &amp; limites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Désir quasi universel masque les effets classiques de transition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Âge et résidence = facteurs structurants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SMOTE améliore nettement la spécificité (3 % → 45 %)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  <a:latin typeface="Calibri"/>
              </a:rPr>
              <a:t>•  Limites : déséquilibre, multicolinéarité (âge VIF=19)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  <a:latin typeface="Calibri"/>
              </a:rPr>
              <a:t>•  Données transversales (associations, non causalité)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0392B"/>
                </a:solidFill>
                <a:latin typeface="Calibri"/>
              </a:rPr>
              <a:t>•  Absence des variables du partenaire masculin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34440"/>
            <a:ext cx="54864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Recommandations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Éducation et emploi des femmes (régions du Nord)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Services de PF accessibles, ciblant les 15–24 ans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Sensibilisation à l'espacement des naissances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Intégrer la dimension masculine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E67E22"/>
                </a:solidFill>
                <a:latin typeface="Calibri"/>
              </a:rPr>
              <a:t>Perspectives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Coût asymétrique · modèle multiniveau · analyse par sous-groupes · comparaison 1991–2018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•  94,5 % des Camerounaises désirent un autre enfant — un désir quasi universel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•  L'âge (OR = 0,859) est le déterminant le plus robuste ; le milieu de résidence structure aussi le désir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•  SVM calibré retenu (AUC CV-5 = 0,969) ; régression logistique = référence interprétable (AUC = 0,820)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E9C46A"/>
                </a:solidFill>
                <a:latin typeface="Calibri"/>
              </a:rPr>
              <a:t>•  Apport : 1ʳᵉ étude camerounaise combinant statistique classique, ML multi-algorithmes et SHAP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•  Modèle opérationnalisé dans l'application HEARTH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E9C46A"/>
                </a:solidFill>
                <a:latin typeface="Calibri"/>
              </a:rPr>
              <a:t>Merci de votre attention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